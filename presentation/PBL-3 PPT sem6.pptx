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70" r:id="rId9"/>
    <p:sldId id="271" r:id="rId10"/>
    <p:sldId id="272" r:id="rId11"/>
    <p:sldId id="273" r:id="rId12"/>
    <p:sldId id="266" r:id="rId13"/>
    <p:sldId id="269" r:id="rId14"/>
    <p:sldId id="274" r:id="rId15"/>
    <p:sldId id="275" r:id="rId16"/>
    <p:sldId id="277" r:id="rId17"/>
    <p:sldId id="276" r:id="rId18"/>
    <p:sldId id="267" r:id="rId19"/>
    <p:sldId id="263" r:id="rId20"/>
    <p:sldId id="2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311" autoAdjust="0"/>
  </p:normalViewPr>
  <p:slideViewPr>
    <p:cSldViewPr snapToGrid="0">
      <p:cViewPr varScale="1">
        <p:scale>
          <a:sx n="54" d="100"/>
          <a:sy n="54" d="100"/>
        </p:scale>
        <p:origin x="1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9000"/>
            <a:ext cx="9144000" cy="978194"/>
          </a:xfrm>
        </p:spPr>
        <p:txBody>
          <a:bodyPr>
            <a:normAutofit fontScale="90000"/>
          </a:bodyPr>
          <a:lstStyle/>
          <a:p>
            <a:r>
              <a:rPr lang="en-IN" dirty="0"/>
              <a:t>Multimodal Emotion Recognition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Sanya Goyal</a:t>
            </a:r>
          </a:p>
          <a:p>
            <a:r>
              <a:rPr lang="en-IN" dirty="0"/>
              <a:t>23FE10CSE00684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Dr. Virendra Meghwal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Emotion recognition is a cornerstone problem in affective computing, with applications ranging from human-computer interaction to mental health monitoring. Unimodal models, which rely on a single source of information like text or speech, often fall short in real-world scenarios because human emotions are complex and expressed concurrently through multiple channels—words, voice tone, and facial expressions. To address this, our project develops a multimodal emotion analysis system using the Multimodal </a:t>
            </a:r>
            <a:r>
              <a:rPr lang="en-US" dirty="0" err="1"/>
              <a:t>EmotionLines</a:t>
            </a:r>
            <a:r>
              <a:rPr lang="en-US" dirty="0"/>
              <a:t> Dataset (MELD), which enables the analysis of realistic, multi-party conversations.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105"/>
            <a:ext cx="10515600" cy="1325563"/>
          </a:xfrm>
        </p:spPr>
        <p:txBody>
          <a:bodyPr/>
          <a:lstStyle/>
          <a:p>
            <a:r>
              <a:rPr lang="en-IN" dirty="0"/>
              <a:t>Literature Review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1D49C83-99BF-A7A0-1F47-A6753EC3E3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58301"/>
              </p:ext>
            </p:extLst>
          </p:nvPr>
        </p:nvGraphicFramePr>
        <p:xfrm>
          <a:off x="963930" y="1345565"/>
          <a:ext cx="9825992" cy="511911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56498">
                  <a:extLst>
                    <a:ext uri="{9D8B030D-6E8A-4147-A177-3AD203B41FA5}">
                      <a16:colId xmlns:a16="http://schemas.microsoft.com/office/drawing/2014/main" val="19895452"/>
                    </a:ext>
                  </a:extLst>
                </a:gridCol>
                <a:gridCol w="2456498">
                  <a:extLst>
                    <a:ext uri="{9D8B030D-6E8A-4147-A177-3AD203B41FA5}">
                      <a16:colId xmlns:a16="http://schemas.microsoft.com/office/drawing/2014/main" val="2963400859"/>
                    </a:ext>
                  </a:extLst>
                </a:gridCol>
                <a:gridCol w="2456498">
                  <a:extLst>
                    <a:ext uri="{9D8B030D-6E8A-4147-A177-3AD203B41FA5}">
                      <a16:colId xmlns:a16="http://schemas.microsoft.com/office/drawing/2014/main" val="4251214423"/>
                    </a:ext>
                  </a:extLst>
                </a:gridCol>
                <a:gridCol w="2456498">
                  <a:extLst>
                    <a:ext uri="{9D8B030D-6E8A-4147-A177-3AD203B41FA5}">
                      <a16:colId xmlns:a16="http://schemas.microsoft.com/office/drawing/2014/main" val="1116699834"/>
                    </a:ext>
                  </a:extLst>
                </a:gridCol>
              </a:tblGrid>
              <a:tr h="32872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</a:rPr>
                        <a:t>Author / Year</a:t>
                      </a:r>
                      <a:endParaRPr lang="en-IN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</a:rPr>
                        <a:t>Modality</a:t>
                      </a:r>
                      <a:endParaRPr lang="en-IN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</a:rPr>
                        <a:t>Method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</a:rPr>
                        <a:t>Key Contribution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203131087"/>
                  </a:ext>
                </a:extLst>
              </a:tr>
              <a:tr h="61787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</a:rPr>
                        <a:t>Poria et al. (2019)</a:t>
                      </a:r>
                      <a:endParaRPr lang="en-IN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</a:rPr>
                        <a:t>Multimodal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</a:rPr>
                        <a:t>Baseline Models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Introduced the MELD dataset, establishing benchmark baselines.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385207766"/>
                  </a:ext>
                </a:extLst>
              </a:tr>
              <a:tr h="75947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</a:rPr>
                        <a:t>Satt et al. (2017)</a:t>
                      </a:r>
                      <a:endParaRPr lang="en-IN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</a:rPr>
                        <a:t>Audio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</a:rPr>
                        <a:t>CNN-</a:t>
                      </a:r>
                      <a:r>
                        <a:rPr lang="en-IN" b="0" dirty="0" err="1">
                          <a:effectLst/>
                        </a:rPr>
                        <a:t>BiLSTM</a:t>
                      </a:r>
                      <a:endParaRPr lang="en-IN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Effective spectral-temporal modeling of speech emotion.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505027760"/>
                  </a:ext>
                </a:extLst>
              </a:tr>
              <a:tr h="75947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</a:rPr>
                        <a:t>Devlin et al. (2019)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</a:rPr>
                        <a:t>Text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</a:rPr>
                        <a:t>BERT</a:t>
                      </a:r>
                      <a:endParaRPr lang="en-IN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Revolutionized NLP with deep contextualized embeddings.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82578184"/>
                  </a:ext>
                </a:extLst>
              </a:tr>
              <a:tr h="75947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</a:rPr>
                        <a:t>Yoon et al. (2023)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</a:rPr>
                        <a:t>Audio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</a:rPr>
                        <a:t>Wav2Vec 2.0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Advanced audio emotion recognition using self-supervised learning.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077639202"/>
                  </a:ext>
                </a:extLst>
              </a:tr>
              <a:tr h="75947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</a:rPr>
                        <a:t>Lian et al. (2021)</a:t>
                      </a:r>
                      <a:endParaRPr lang="en-IN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</a:rPr>
                        <a:t>Multimodal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</a:rPr>
                        <a:t>Context-Aware Attention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Dynamic fusion for adaptive modality weighting.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757898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To design and implement a </a:t>
            </a:r>
            <a:r>
              <a:rPr lang="en-IN" b="1" dirty="0"/>
              <a:t>multimodal deep learning system</a:t>
            </a:r>
            <a:r>
              <a:rPr lang="en-IN" dirty="0"/>
              <a:t> for emotion recognition using the MELD dataset by integrating textual LSTM features, and acoustic CNN-</a:t>
            </a:r>
            <a:r>
              <a:rPr lang="en-IN" dirty="0" err="1"/>
              <a:t>BiLSTM</a:t>
            </a:r>
            <a:r>
              <a:rPr lang="en-IN" dirty="0"/>
              <a:t> features.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hangingPunct="0"/>
            <a:r>
              <a:rPr lang="en-IN" dirty="0"/>
              <a:t>Implement a text-based LSTM classifier.</a:t>
            </a:r>
          </a:p>
          <a:p>
            <a:pPr lvl="0" hangingPunct="0"/>
            <a:r>
              <a:rPr lang="en-IN" dirty="0"/>
              <a:t>Build an acoustic CNN-</a:t>
            </a:r>
            <a:r>
              <a:rPr lang="en-IN" dirty="0" err="1"/>
              <a:t>BiLSTM</a:t>
            </a:r>
            <a:r>
              <a:rPr lang="en-IN" dirty="0"/>
              <a:t> model using Mel-spectrograms.</a:t>
            </a:r>
          </a:p>
          <a:p>
            <a:pPr lvl="0" hangingPunct="0"/>
            <a:r>
              <a:rPr lang="en-IN" dirty="0"/>
              <a:t> </a:t>
            </a:r>
            <a:r>
              <a:rPr lang="en-IN" dirty="0" err="1"/>
              <a:t>Analyze</a:t>
            </a:r>
            <a:r>
              <a:rPr lang="en-IN" dirty="0"/>
              <a:t> unimodal performance.</a:t>
            </a:r>
          </a:p>
          <a:p>
            <a:pPr lvl="0" hangingPunct="0"/>
            <a:r>
              <a:rPr lang="en-IN" dirty="0"/>
              <a:t>Establish a framework for future multimodal fusion.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Our approach implements a modular, multimodal framework. We process each modality independently: an </a:t>
            </a:r>
            <a:r>
              <a:rPr lang="en-US" b="1" dirty="0"/>
              <a:t>LSTM network</a:t>
            </a:r>
            <a:r>
              <a:rPr lang="en-US" dirty="0"/>
              <a:t> analyzes textual sequences using </a:t>
            </a:r>
            <a:r>
              <a:rPr lang="en-US" dirty="0" err="1"/>
              <a:t>GloVe</a:t>
            </a:r>
            <a:r>
              <a:rPr lang="en-US" dirty="0"/>
              <a:t> embeddings, while a </a:t>
            </a:r>
            <a:r>
              <a:rPr lang="en-US" b="1" dirty="0"/>
              <a:t>CNN-</a:t>
            </a:r>
            <a:r>
              <a:rPr lang="en-US" b="1" dirty="0" err="1"/>
              <a:t>BiLSTM</a:t>
            </a:r>
            <a:r>
              <a:rPr lang="en-US" b="1" dirty="0"/>
              <a:t> architecture</a:t>
            </a:r>
            <a:r>
              <a:rPr lang="en-US" dirty="0"/>
              <a:t> extracts features from audio Mel-spectrograms.</a:t>
            </a:r>
          </a:p>
          <a:p>
            <a:pPr marL="0" indent="0">
              <a:buNone/>
            </a:pPr>
            <a:r>
              <a:rPr lang="en-US" dirty="0"/>
              <a:t>Finally, a </a:t>
            </a:r>
            <a:r>
              <a:rPr lang="en-US" b="1" dirty="0"/>
              <a:t>late fusion strategy</a:t>
            </a:r>
            <a:r>
              <a:rPr lang="en-US" dirty="0"/>
              <a:t> will be employed to integrate the predictions from both the streams, leveraging their complementary strengths for robust emotion classification.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8025BCC-2C33-22B2-207F-B24ECBF43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412" y="102252"/>
            <a:ext cx="4935176" cy="665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047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FBD48-14F3-87B5-0536-A7CA20D67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" y="338137"/>
            <a:ext cx="11269980" cy="713708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4400" b="1" dirty="0" err="1"/>
              <a:t>Architechture</a:t>
            </a:r>
            <a:r>
              <a:rPr lang="en-IN" sz="4400" b="1" dirty="0"/>
              <a:t> Overview:</a:t>
            </a:r>
          </a:p>
          <a:p>
            <a:pPr marL="0" indent="0">
              <a:buNone/>
            </a:pPr>
            <a:endParaRPr lang="en-IN" sz="4400" b="1" dirty="0"/>
          </a:p>
          <a:p>
            <a:pPr marL="0" indent="0">
              <a:buNone/>
            </a:pPr>
            <a:r>
              <a:rPr lang="en-IN" sz="3300" b="1" dirty="0"/>
              <a:t>1)Text Modality - LSTM Classifier</a:t>
            </a:r>
            <a:endParaRPr lang="en-IN" sz="3300" dirty="0"/>
          </a:p>
          <a:p>
            <a:pPr marL="0" indent="0">
              <a:buNone/>
            </a:pPr>
            <a:r>
              <a:rPr lang="en-IN" dirty="0"/>
              <a:t>Input: Dialogue utterances (conversational text)</a:t>
            </a:r>
          </a:p>
          <a:p>
            <a:pPr marL="0" indent="0">
              <a:buNone/>
            </a:pPr>
            <a:r>
              <a:rPr lang="en-IN" dirty="0"/>
              <a:t>Processing: Tokenization → </a:t>
            </a:r>
            <a:r>
              <a:rPr lang="en-IN" dirty="0" err="1"/>
              <a:t>GloVe</a:t>
            </a:r>
            <a:r>
              <a:rPr lang="en-IN" dirty="0"/>
              <a:t> 300D Embeddings → LSTM layers</a:t>
            </a:r>
          </a:p>
          <a:p>
            <a:pPr marL="0" indent="0">
              <a:buNone/>
            </a:pPr>
            <a:r>
              <a:rPr lang="en-IN" dirty="0"/>
              <a:t>Architecture: 2-layer Bidirectional LSTM (128 units)</a:t>
            </a:r>
          </a:p>
          <a:p>
            <a:pPr marL="0" indent="0">
              <a:buNone/>
            </a:pPr>
            <a:r>
              <a:rPr lang="en-IN" dirty="0"/>
              <a:t>Output: Text-based emotion probabilities (7 classes)</a:t>
            </a:r>
          </a:p>
          <a:p>
            <a:pPr marL="0" indent="0">
              <a:buNone/>
            </a:pPr>
            <a:r>
              <a:rPr lang="en-IN" dirty="0"/>
              <a:t>Performance: </a:t>
            </a:r>
            <a:r>
              <a:rPr lang="en-IN" b="1" dirty="0"/>
              <a:t>54% accuracy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3300" b="1" dirty="0"/>
              <a:t>2)Audio Modality - CNN-</a:t>
            </a:r>
            <a:r>
              <a:rPr lang="en-IN" sz="3300" b="1" dirty="0" err="1"/>
              <a:t>BiLSTM</a:t>
            </a:r>
            <a:r>
              <a:rPr lang="en-IN" sz="3300" b="1" dirty="0"/>
              <a:t> Classifier</a:t>
            </a:r>
            <a:endParaRPr lang="en-IN" sz="3300" dirty="0"/>
          </a:p>
          <a:p>
            <a:pPr marL="0" indent="0">
              <a:buNone/>
            </a:pPr>
            <a:r>
              <a:rPr lang="en-IN" dirty="0"/>
              <a:t>Input: Raw audio waveforms from MELD conversations</a:t>
            </a:r>
          </a:p>
          <a:p>
            <a:pPr marL="0" indent="0">
              <a:buNone/>
            </a:pPr>
            <a:r>
              <a:rPr lang="en-IN" dirty="0"/>
              <a:t>Processing: Mel-spectrogram extraction → Hybrid CNN-</a:t>
            </a:r>
            <a:r>
              <a:rPr lang="en-IN" dirty="0" err="1"/>
              <a:t>BiLSTM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Architecture: CNN (spectral patterns) + </a:t>
            </a:r>
            <a:r>
              <a:rPr lang="en-IN" dirty="0" err="1"/>
              <a:t>BiLSTM</a:t>
            </a:r>
            <a:r>
              <a:rPr lang="en-IN" dirty="0"/>
              <a:t> (temporal dynamics)</a:t>
            </a:r>
          </a:p>
          <a:p>
            <a:pPr marL="0" indent="0">
              <a:buNone/>
            </a:pPr>
            <a:r>
              <a:rPr lang="en-IN" dirty="0"/>
              <a:t>Output: Audio-based emotion probabilities (7 classes)</a:t>
            </a:r>
          </a:p>
          <a:p>
            <a:pPr marL="0" indent="0">
              <a:buNone/>
            </a:pPr>
            <a:r>
              <a:rPr lang="en-IN" dirty="0"/>
              <a:t>Performance: </a:t>
            </a:r>
            <a:r>
              <a:rPr lang="en-IN" b="1" dirty="0"/>
              <a:t>42.5% validation accuracy</a:t>
            </a:r>
            <a:br>
              <a:rPr lang="en-IN" b="1" dirty="0"/>
            </a:br>
            <a:br>
              <a:rPr lang="en-IN" b="1" dirty="0"/>
            </a:br>
            <a:endParaRPr lang="en-IN" b="1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0291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CC7C6-464E-C293-0C61-B4E818EAF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530" y="653142"/>
            <a:ext cx="11121390" cy="693118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Optimizer &amp; Learning Rate:</a:t>
            </a:r>
          </a:p>
          <a:p>
            <a:pPr marL="0" indent="0">
              <a:buNone/>
            </a:pPr>
            <a:r>
              <a:rPr lang="en-IN" dirty="0"/>
              <a:t>Optimizer: Adam</a:t>
            </a:r>
          </a:p>
          <a:p>
            <a:pPr marL="0" indent="0">
              <a:buNone/>
            </a:pPr>
            <a:r>
              <a:rPr lang="en-IN" dirty="0"/>
              <a:t>Initial Learning Rate: 0.001 (optimal after tuning)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Regularization Strategy:</a:t>
            </a:r>
          </a:p>
          <a:p>
            <a:pPr marL="0" indent="0">
              <a:buNone/>
            </a:pPr>
            <a:r>
              <a:rPr lang="en-IN" dirty="0"/>
              <a:t>Strong Dropout: 0.5 across fully-connected layers</a:t>
            </a:r>
          </a:p>
          <a:p>
            <a:pPr marL="0" indent="0">
              <a:buNone/>
            </a:pPr>
            <a:r>
              <a:rPr lang="en-IN" dirty="0"/>
              <a:t>LSTM Dropout: 0.4 + 0.2 recurrent dropout</a:t>
            </a:r>
          </a:p>
          <a:p>
            <a:pPr marL="0" indent="0">
              <a:buNone/>
            </a:pPr>
            <a:r>
              <a:rPr lang="en-IN" dirty="0"/>
              <a:t>CNN Dropout: 0.3 after each conv block</a:t>
            </a:r>
          </a:p>
          <a:p>
            <a:pPr marL="0" indent="0">
              <a:buNone/>
            </a:pPr>
            <a:r>
              <a:rPr lang="en-IN" dirty="0" err="1"/>
              <a:t>BatchNormalization</a:t>
            </a:r>
            <a:r>
              <a:rPr lang="en-IN" dirty="0"/>
              <a:t>: After each major layer</a:t>
            </a:r>
          </a:p>
          <a:p>
            <a:pPr marL="0" indent="0">
              <a:buNone/>
            </a:pPr>
            <a:r>
              <a:rPr lang="en-IN" dirty="0"/>
              <a:t>Early Stopping: Patience=5, restore best weights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Training Hyperparameters:</a:t>
            </a:r>
          </a:p>
          <a:p>
            <a:pPr marL="0" indent="0">
              <a:buNone/>
            </a:pPr>
            <a:r>
              <a:rPr lang="en-IN" dirty="0"/>
              <a:t>Batch size: 32 (balanced memory/convergence)</a:t>
            </a:r>
          </a:p>
          <a:p>
            <a:pPr marL="0" indent="0">
              <a:buNone/>
            </a:pPr>
            <a:r>
              <a:rPr lang="en-IN" dirty="0"/>
              <a:t>Epochs: 30 (with early stopping)</a:t>
            </a:r>
          </a:p>
          <a:p>
            <a:pPr marL="0" indent="0">
              <a:buNone/>
            </a:pPr>
            <a:r>
              <a:rPr lang="en-IN" dirty="0"/>
              <a:t>Class weights: Initially tested, removed (too extreme for 28:1 imbalance)</a:t>
            </a:r>
          </a:p>
          <a:p>
            <a:pPr marL="0" indent="0">
              <a:buNone/>
            </a:pPr>
            <a:br>
              <a:rPr lang="en-IN" sz="3300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463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1B020-9970-ECD3-5F1E-BC38A5F5C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760" y="731520"/>
            <a:ext cx="10386060" cy="259461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3300" b="1" dirty="0"/>
              <a:t>3)Multimodal Fusion - Late Fusion </a:t>
            </a:r>
          </a:p>
          <a:p>
            <a:pPr marL="0" indent="0">
              <a:buNone/>
            </a:pPr>
            <a:r>
              <a:rPr lang="en-IN" dirty="0"/>
              <a:t>Strategy: Weighted combination of modality predictions</a:t>
            </a:r>
          </a:p>
          <a:p>
            <a:pPr marL="0" indent="0">
              <a:buNone/>
            </a:pPr>
            <a:r>
              <a:rPr lang="en-IN" dirty="0"/>
              <a:t>Method: </a:t>
            </a:r>
            <a:r>
              <a:rPr lang="en-IN" dirty="0" err="1"/>
              <a:t>combined_score</a:t>
            </a:r>
            <a:r>
              <a:rPr lang="en-IN" dirty="0"/>
              <a:t> = </a:t>
            </a:r>
            <a:r>
              <a:rPr lang="en-IN" dirty="0" err="1"/>
              <a:t>w_text</a:t>
            </a:r>
            <a:r>
              <a:rPr lang="en-IN" dirty="0"/>
              <a:t> × </a:t>
            </a:r>
            <a:r>
              <a:rPr lang="en-IN" dirty="0" err="1"/>
              <a:t>text_pred</a:t>
            </a:r>
            <a:r>
              <a:rPr lang="en-IN" dirty="0"/>
              <a:t> + </a:t>
            </a:r>
            <a:r>
              <a:rPr lang="en-IN" dirty="0" err="1"/>
              <a:t>w_audio</a:t>
            </a:r>
            <a:r>
              <a:rPr lang="en-IN" dirty="0"/>
              <a:t> × </a:t>
            </a:r>
            <a:r>
              <a:rPr lang="en-IN" dirty="0" err="1"/>
              <a:t>audio_pred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Weights: Learned via small neural layer or grid search</a:t>
            </a:r>
          </a:p>
          <a:p>
            <a:pPr marL="0" indent="0">
              <a:buNone/>
            </a:pPr>
            <a:r>
              <a:rPr lang="en-IN" dirty="0"/>
              <a:t>Expected Output: Enhanced emotion classification (65-70% target)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2231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pic>
        <p:nvPicPr>
          <p:cNvPr id="4098" name="Picture 1">
            <a:extLst>
              <a:ext uri="{FF2B5EF4-FFF2-40B4-BE49-F238E27FC236}">
                <a16:creationId xmlns:a16="http://schemas.microsoft.com/office/drawing/2014/main" id="{D363DCD7-653E-2979-81C5-81B1BD06D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812" y="1777999"/>
            <a:ext cx="3850957" cy="23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CC78A7-760E-55E4-D477-C4509AE3C053}"/>
              </a:ext>
            </a:extLst>
          </p:cNvPr>
          <p:cNvSpPr txBox="1"/>
          <p:nvPr/>
        </p:nvSpPr>
        <p:spPr>
          <a:xfrm>
            <a:off x="1055370" y="4132544"/>
            <a:ext cx="4271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Fig: Classification Report for Textual LSTM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1FC870-5A59-B4A4-5336-00D9F3478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413" y="1861855"/>
            <a:ext cx="3850958" cy="21868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F939AD-B3B2-4EAD-3592-D506F2234899}"/>
              </a:ext>
            </a:extLst>
          </p:cNvPr>
          <p:cNvSpPr txBox="1"/>
          <p:nvPr/>
        </p:nvSpPr>
        <p:spPr>
          <a:xfrm>
            <a:off x="6503670" y="4132544"/>
            <a:ext cx="51172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Fig: Classification Report for Audio CNN-</a:t>
            </a:r>
            <a:r>
              <a:rPr lang="en-IN" dirty="0" err="1"/>
              <a:t>BiLSTM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D9DE1E1-CE4C-84B0-7294-91DDD1DF38B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10176" y="-514350"/>
            <a:ext cx="9371647" cy="3565734"/>
            <a:chOff x="421" y="1260"/>
            <a:chExt cx="6498" cy="2443"/>
          </a:xfrm>
        </p:grpSpPr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7820EBFE-D6F1-9F77-C41B-FCEEF8F0EAF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21" y="1260"/>
              <a:ext cx="6498" cy="2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69FF18-2DD5-8B62-2219-EC4AACA3E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5" y="1262"/>
              <a:ext cx="12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1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71C7FB-2A08-E1B7-3DE4-AC675D829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" y="1482"/>
              <a:ext cx="0" cy="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C2C5B4-F6A8-0CC9-5497-99E612598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" y="1480"/>
              <a:ext cx="108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D50397B-63A8-C2DD-42D3-9FAE48107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7" y="1484"/>
              <a:ext cx="0" cy="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01B8510-6D6F-F2EE-B6D5-C44E20A02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" y="1455"/>
              <a:ext cx="12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1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5FD0D88-46AE-3847-1AAD-8D593D18A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" y="1650"/>
              <a:ext cx="12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1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15D985E-6002-B495-2426-D24136B86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4" y="1843"/>
              <a:ext cx="12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1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981A882-0D5D-5543-F910-DB00E0B37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9" y="2037"/>
              <a:ext cx="97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6E85A1E-456E-6412-4BE2-92EEF4D54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9" y="2198"/>
              <a:ext cx="97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90C4716-62DF-5FD5-F3A5-111F6FEDC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9" y="2360"/>
              <a:ext cx="97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E3EABC2-96AC-31A6-F7A6-E739817E2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9" y="2522"/>
              <a:ext cx="97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EE75996-A42A-1FCF-E9AF-95F85A318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9" y="2683"/>
              <a:ext cx="97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2E15DB1-1001-467F-BE69-E56542370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9" y="2845"/>
              <a:ext cx="97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6424166-0210-DF7F-6434-98E69C2DB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9" y="3007"/>
              <a:ext cx="97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EA622C-BB33-87DA-417F-85AAB4CC6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9" y="3168"/>
              <a:ext cx="97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8D71769-F923-0DD0-1374-7399C8EBE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6" y="3330"/>
              <a:ext cx="97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A022CEC-2311-0B39-A3F2-34AC0C877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3505"/>
              <a:ext cx="249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Fig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2460ED-9FAF-07FE-465C-B8589EC45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8" y="3495"/>
              <a:ext cx="94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1206CA5-B516-9BBA-3B1A-0F63FDE16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4" y="3495"/>
              <a:ext cx="0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BD40198-D2AC-8DC6-0D73-E1DDCD19A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5" y="3495"/>
              <a:ext cx="338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: Textual LSTM                                                          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7F29858-4FE7-E27D-17DC-7901A2AEB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8" y="3495"/>
              <a:ext cx="94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CF46379-50CC-FA67-2479-1B7D4B372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3" y="3495"/>
              <a:ext cx="0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4A30F5B-73BF-9495-AAE8-7AE509DAF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5" y="3495"/>
              <a:ext cx="0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AFCD793-31EF-64C8-1E40-1CA2A82AB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0" y="3495"/>
              <a:ext cx="0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0B3773E-7D40-2CCD-164E-72D891AEC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0" y="3494"/>
              <a:ext cx="169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Fig: </a:t>
              </a:r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Audio CNN-</a:t>
              </a:r>
              <a:r>
                <a:rPr kumimoji="0" lang="en-US" altLang="en-US" sz="18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BiLSTM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0AB53CC-53E2-DAC5-8528-CC13EB828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1" y="3491"/>
              <a:ext cx="97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5154" name="Picture 34">
              <a:extLst>
                <a:ext uri="{FF2B5EF4-FFF2-40B4-BE49-F238E27FC236}">
                  <a16:creationId xmlns:a16="http://schemas.microsoft.com/office/drawing/2014/main" id="{57F5C9B2-C2E4-6DD5-D3AF-C43DD12753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3" y="1966"/>
              <a:ext cx="2567" cy="1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55" name="Picture 35">
              <a:extLst>
                <a:ext uri="{FF2B5EF4-FFF2-40B4-BE49-F238E27FC236}">
                  <a16:creationId xmlns:a16="http://schemas.microsoft.com/office/drawing/2014/main" id="{12806634-79D6-35A4-7AC8-DD02F14520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" y="1913"/>
              <a:ext cx="2832" cy="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122E5D16-F04F-02AF-FEA6-E6439ACCA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4810" y="3319939"/>
            <a:ext cx="4299778" cy="34504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CCE6D6-80C6-C222-709E-3AC6380189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4084" y="3413358"/>
            <a:ext cx="4443210" cy="322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281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9A345-31C7-BFCD-4321-42B37D727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Audio Model Analysis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6DB3A3E-2AAA-5251-0B29-0154BF1B8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Key Observations:</a:t>
            </a:r>
          </a:p>
          <a:p>
            <a:r>
              <a:rPr lang="en-US" sz="2400" dirty="0"/>
              <a:t>Neutral dominates: 58% recall (most frequent class)</a:t>
            </a:r>
          </a:p>
          <a:p>
            <a:r>
              <a:rPr lang="en-US" sz="2400" dirty="0"/>
              <a:t>Minimal overfitting (gap reduced from 61% to 5%)</a:t>
            </a:r>
          </a:p>
          <a:p>
            <a:r>
              <a:rPr lang="en-US" sz="2400" dirty="0"/>
              <a:t>Minority struggle: Disgust (8% precision), Fear (6% precision)</a:t>
            </a:r>
          </a:p>
          <a:p>
            <a:r>
              <a:rPr lang="en-US" sz="2400" dirty="0"/>
              <a:t>Validation accuracy plateaus at ~42.5%</a:t>
            </a:r>
          </a:p>
          <a:p>
            <a:r>
              <a:rPr lang="en-US" sz="2400" dirty="0"/>
              <a:t>Performance ceiling due to inherent task difficulty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B6CA8D3-F542-D9E7-20EF-E271F2F0C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638" y="4748014"/>
            <a:ext cx="8402223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186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094FF-BB67-5E85-9354-F6F5431DE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445770"/>
            <a:ext cx="9831705" cy="991235"/>
          </a:xfrm>
        </p:spPr>
        <p:txBody>
          <a:bodyPr>
            <a:normAutofit/>
          </a:bodyPr>
          <a:lstStyle/>
          <a:p>
            <a:r>
              <a:rPr lang="en-IN" sz="2800" b="1" dirty="0"/>
              <a:t>Reasons why accuracy plateaus at 42.5%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33AC6-D2DD-D000-A437-0B63CF956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475" y="1319475"/>
            <a:ext cx="9105900" cy="174376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1) Severe Class Imbalance (Primary Factor)</a:t>
            </a:r>
            <a:endParaRPr lang="en-US" dirty="0"/>
          </a:p>
          <a:p>
            <a:r>
              <a:rPr lang="en-US" dirty="0"/>
              <a:t>Imbalance Ratio: 17.6:1 (Neutral vs Fear)</a:t>
            </a:r>
          </a:p>
          <a:p>
            <a:r>
              <a:rPr lang="en-US" dirty="0"/>
              <a:t>Neutral class: 47.15% of training data</a:t>
            </a:r>
          </a:p>
          <a:p>
            <a:r>
              <a:rPr lang="en-US" dirty="0"/>
              <a:t>Minority classes (Fear, Disgust): &lt;3% each</a:t>
            </a:r>
          </a:p>
          <a:p>
            <a:r>
              <a:rPr lang="en-US" dirty="0"/>
              <a:t>Thus, Model biases toward majority class (neutral)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9D9844-66CA-A746-77DB-587C63F37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31" y="3303270"/>
            <a:ext cx="11213900" cy="321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110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7D091-B78F-30C1-B830-BFC0715A0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5820"/>
            <a:ext cx="10515600" cy="53311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2) Limited Discriminative Power of Audio-Only Features</a:t>
            </a:r>
            <a:endParaRPr lang="en-US" sz="2000" dirty="0"/>
          </a:p>
          <a:p>
            <a:r>
              <a:rPr lang="en-US" sz="2000" dirty="0"/>
              <a:t>Audio alone insufficient for emotion recognition</a:t>
            </a:r>
          </a:p>
          <a:p>
            <a:r>
              <a:rPr lang="en-US" sz="2000" dirty="0"/>
              <a:t>Silhouette Score: 0.18 (poor class separation)</a:t>
            </a:r>
          </a:p>
          <a:p>
            <a:r>
              <a:rPr lang="en-US" sz="2000" dirty="0"/>
              <a:t>Davies-Bouldin Index: 2.4 (high cluster overlap)</a:t>
            </a:r>
          </a:p>
          <a:p>
            <a:r>
              <a:rPr lang="en-US" sz="2000" dirty="0"/>
              <a:t>Thus, features cannot distinguish between emotions effectively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3) Inherent Task Difficulty</a:t>
            </a:r>
            <a:endParaRPr lang="en-US" sz="2000" dirty="0"/>
          </a:p>
          <a:p>
            <a:r>
              <a:rPr lang="en-US" sz="2000" dirty="0"/>
              <a:t>Emotion in speech is subtle and context-dependent</a:t>
            </a:r>
          </a:p>
          <a:p>
            <a:r>
              <a:rPr lang="en-US" sz="2000" dirty="0"/>
              <a:t>Same words can convey different emotions based on context</a:t>
            </a:r>
          </a:p>
          <a:p>
            <a:r>
              <a:rPr lang="en-US" sz="2000" dirty="0"/>
              <a:t>Lack of visual/textual context limits understanding</a:t>
            </a:r>
          </a:p>
          <a:p>
            <a:r>
              <a:rPr lang="en-US" sz="2000" dirty="0"/>
              <a:t>State-of-the-art audio-only: 50-55% accuracy</a:t>
            </a:r>
          </a:p>
          <a:p>
            <a:r>
              <a:rPr lang="en-US" sz="2000" b="1" dirty="0"/>
              <a:t>Our result (42.5%):</a:t>
            </a:r>
            <a:r>
              <a:rPr lang="en-US" sz="2000" dirty="0"/>
              <a:t> Within expected range for severe imbalance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9891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9FF74-6DD9-6F31-7B8A-59255E25B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0226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/>
              <a:t>Fine-tuning and Optimisation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7FE888A-FD08-CCF4-0D9D-68E33DF41F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2215374"/>
              </p:ext>
            </p:extLst>
          </p:nvPr>
        </p:nvGraphicFramePr>
        <p:xfrm>
          <a:off x="838200" y="2492842"/>
          <a:ext cx="10515600" cy="405104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90176611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3409543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21022013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71069914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82660139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387306463"/>
                    </a:ext>
                  </a:extLst>
                </a:gridCol>
              </a:tblGrid>
              <a:tr h="441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Configuration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Train Acc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 Acc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8981044"/>
                  </a:ext>
                </a:extLst>
              </a:tr>
              <a:tr h="677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No Regularization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91.4%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29.9%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61.5%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Severe overfitting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6706271"/>
                  </a:ext>
                </a:extLst>
              </a:tr>
              <a:tr h="682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Strong Dropout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0.5 across layers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47.3%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42.5%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Optimal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204670"/>
                  </a:ext>
                </a:extLst>
              </a:tr>
              <a:tr h="682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Dropout + Class Weights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Balanced weights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14.2%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21.3%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-7.1%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Too extreme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2766203"/>
                  </a:ext>
                </a:extLst>
              </a:tr>
              <a:tr h="682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Scaled Class Weights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0.3× scaling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38.5%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39.2%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-0.7%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Under-learning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3815258"/>
                  </a:ext>
                </a:extLst>
              </a:tr>
              <a:tr h="441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Low Dropout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0.2-0.3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68.2%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35.1%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33.1%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Still overfitting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4294465"/>
                  </a:ext>
                </a:extLst>
              </a:tr>
              <a:tr h="441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High Dropout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32.4%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38.7%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-6.3%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Under-fitting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79810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616D814-613E-E47B-810A-446FCFD0AB57}"/>
              </a:ext>
            </a:extLst>
          </p:cNvPr>
          <p:cNvSpPr txBox="1"/>
          <p:nvPr/>
        </p:nvSpPr>
        <p:spPr>
          <a:xfrm>
            <a:off x="838200" y="1477179"/>
            <a:ext cx="102831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Overfitting mitigation strategies were implemented as follows and </a:t>
            </a:r>
            <a:r>
              <a:rPr lang="en-US" sz="2000" dirty="0"/>
              <a:t>optimal configuration was found to be strong dropout (0.5) without class weights with minimal overfitting.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91128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By next assessment, this project will deliver a fully integrated multimodal emotion recognition system on the MELD dataset. The key outcome will be a functional model that synergistically combines text and audio modalities using an advanced fusion technique, demonstrating a significant performance improvement over the current unimodal baselines and providing a robust foundation for a research publication.</a:t>
            </a: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hangingPunct="0"/>
            <a:r>
              <a:rPr lang="en-IN" dirty="0"/>
              <a:t>[1] S. Poria, E. Cambria, R. Bajpai, and A. Hussain, "A Review of Affective Computing: From Unimodal Analysis to Multimodal Fusion," </a:t>
            </a:r>
            <a:r>
              <a:rPr lang="en-IN" i="1" dirty="0"/>
              <a:t>Information Fusion</a:t>
            </a:r>
            <a:r>
              <a:rPr lang="en-IN" dirty="0"/>
              <a:t>, vol. 37, pp. 98–125, 2017.</a:t>
            </a:r>
          </a:p>
          <a:p>
            <a:pPr hangingPunct="0"/>
            <a:r>
              <a:rPr lang="en-IN" dirty="0"/>
              <a:t>[2] S. Poria, D. Hazarika, N. Majumder, and R. Mihalcea, "MELD: A Multimodal Multi-Party Dataset for Emotion Recognition in Conversations," </a:t>
            </a:r>
            <a:r>
              <a:rPr lang="en-IN" i="1" dirty="0" err="1"/>
              <a:t>arXiv</a:t>
            </a:r>
            <a:r>
              <a:rPr lang="en-IN" i="1" dirty="0"/>
              <a:t> preprint arXiv:1902.00946</a:t>
            </a:r>
            <a:r>
              <a:rPr lang="en-IN" dirty="0"/>
              <a:t>, 2019.</a:t>
            </a:r>
          </a:p>
          <a:p>
            <a:pPr hangingPunct="0"/>
            <a:r>
              <a:rPr lang="en-IN" dirty="0"/>
              <a:t>[3] Z. Lian, B. Liu, and J. Tao, "</a:t>
            </a:r>
            <a:r>
              <a:rPr lang="en-IN" dirty="0" err="1"/>
              <a:t>CTNet</a:t>
            </a:r>
            <a:r>
              <a:rPr lang="en-IN" dirty="0"/>
              <a:t>: Conversational Transformer Network for Emotion Recognition," </a:t>
            </a:r>
            <a:r>
              <a:rPr lang="en-IN" i="1" dirty="0"/>
              <a:t>IEEE/ACM Transactions on Audio, Speech, and Language Processing</a:t>
            </a:r>
            <a:r>
              <a:rPr lang="en-IN" dirty="0"/>
              <a:t>, vol. 29, pp. 985-1000, 2021.</a:t>
            </a:r>
          </a:p>
          <a:p>
            <a:pPr hangingPunct="0"/>
            <a:r>
              <a:rPr lang="en-IN" dirty="0"/>
              <a:t>[4] S. Hochreiter and J. </a:t>
            </a:r>
            <a:r>
              <a:rPr lang="en-IN" dirty="0" err="1"/>
              <a:t>Schmidhuber</a:t>
            </a:r>
            <a:r>
              <a:rPr lang="en-IN" dirty="0"/>
              <a:t>, "Long short-term memory," </a:t>
            </a:r>
            <a:r>
              <a:rPr lang="en-IN" i="1" dirty="0"/>
              <a:t>Neural Computation</a:t>
            </a:r>
            <a:r>
              <a:rPr lang="en-IN" dirty="0"/>
              <a:t>, vol. 9, no. 8, pp. 1735–1780, 1997.</a:t>
            </a:r>
          </a:p>
          <a:p>
            <a:pPr hangingPunct="0"/>
            <a:r>
              <a:rPr lang="en-IN" dirty="0"/>
              <a:t>[5] J. Devlin, M.-W. Chang, K. Lee, and K. Toutanova, "BERT: Pre-training of Deep Bidirectional Transformers for Language Understanding," in </a:t>
            </a:r>
            <a:r>
              <a:rPr lang="en-IN" i="1" dirty="0"/>
              <a:t>Proceedings of NAACL-HLT</a:t>
            </a:r>
            <a:r>
              <a:rPr lang="en-IN" dirty="0"/>
              <a:t>, 2019, pp. 4171–4186.</a:t>
            </a:r>
          </a:p>
          <a:p>
            <a:pPr hangingPunct="0"/>
            <a:r>
              <a:rPr lang="en-IN" dirty="0"/>
              <a:t>[6] Z. Lian, B. Liu, and J. Tao, "SMN: Situated Multimodal Network for Emotion Recognition in Conversations," </a:t>
            </a:r>
            <a:r>
              <a:rPr lang="en-IN" i="1" dirty="0"/>
              <a:t>IEEE Transactions on Affective Computing</a:t>
            </a:r>
            <a:r>
              <a:rPr lang="en-IN" dirty="0"/>
              <a:t>, 2021.</a:t>
            </a:r>
          </a:p>
          <a:p>
            <a:pPr hangingPunct="0"/>
            <a:r>
              <a:rPr lang="en-IN" dirty="0"/>
              <a:t>[7] A. Satt, S. Rozenberg, and R. </a:t>
            </a:r>
            <a:r>
              <a:rPr lang="en-IN" dirty="0" err="1"/>
              <a:t>Hoory</a:t>
            </a:r>
            <a:r>
              <a:rPr lang="en-IN" dirty="0"/>
              <a:t>, "Efficient Emotion Recognition from Speech Using Deep Learning on Spectrograms," in </a:t>
            </a:r>
            <a:r>
              <a:rPr lang="en-IN" i="1" dirty="0"/>
              <a:t>Proceedings of </a:t>
            </a:r>
            <a:r>
              <a:rPr lang="en-IN" i="1" dirty="0" err="1"/>
              <a:t>Interspeech</a:t>
            </a:r>
            <a:r>
              <a:rPr lang="en-IN" dirty="0"/>
              <a:t>, Stockholm, Sweden, 2017, pp. 1089-1093.</a:t>
            </a:r>
          </a:p>
          <a:p>
            <a:pPr hangingPunct="0"/>
            <a:r>
              <a:rPr lang="en-IN" dirty="0"/>
              <a:t>[8] A. </a:t>
            </a:r>
            <a:r>
              <a:rPr lang="en-IN" dirty="0" err="1"/>
              <a:t>Mollahosseini</a:t>
            </a:r>
            <a:r>
              <a:rPr lang="en-IN" dirty="0"/>
              <a:t>, B. Hasani, and M. H. Mahoor, "</a:t>
            </a:r>
            <a:r>
              <a:rPr lang="en-IN" dirty="0" err="1"/>
              <a:t>AffectNet</a:t>
            </a:r>
            <a:r>
              <a:rPr lang="en-IN" dirty="0"/>
              <a:t>: A Database for Facial Expression, Valence, and Arousal Computing in the Wild," </a:t>
            </a:r>
            <a:r>
              <a:rPr lang="en-IN" i="1" dirty="0"/>
              <a:t>IEEE Transactions on Affective Computing</a:t>
            </a:r>
            <a:r>
              <a:rPr lang="en-IN" dirty="0"/>
              <a:t>, vol. 10, no. 1, pp. 18-31, Jan.-Mar. 2019.</a:t>
            </a:r>
          </a:p>
          <a:p>
            <a:pPr hangingPunct="0"/>
            <a:r>
              <a:rPr lang="en-IN" dirty="0"/>
              <a:t>[9] S. Yoon, S. Byun, S. Dey, and K. Jung, "Speech Emotion Recognition Using Multi-Hop Attention Mechanism," in </a:t>
            </a:r>
            <a:r>
              <a:rPr lang="en-IN" i="1" dirty="0"/>
              <a:t>ICASSP</a:t>
            </a:r>
            <a:r>
              <a:rPr lang="en-IN" dirty="0"/>
              <a:t>, 2023, pp. 1-5.</a:t>
            </a:r>
          </a:p>
          <a:p>
            <a:pPr hangingPunct="0"/>
            <a:r>
              <a:rPr lang="en-IN" dirty="0"/>
              <a:t>[10] F. Ma, B. Sun, and S. Li, "Facial Expression Recognition with Visual Transformers and Attentional Selective Fusion," </a:t>
            </a:r>
            <a:r>
              <a:rPr lang="en-IN" i="1" dirty="0"/>
              <a:t>IEEE Transactions on Affective Computing</a:t>
            </a:r>
            <a:r>
              <a:rPr lang="en-IN" dirty="0"/>
              <a:t>, 2022.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</TotalTime>
  <Words>1448</Words>
  <Application>Microsoft Office PowerPoint</Application>
  <PresentationFormat>Widescreen</PresentationFormat>
  <Paragraphs>192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quote-cjk-patch</vt:lpstr>
      <vt:lpstr>Times New Roman</vt:lpstr>
      <vt:lpstr>Wingdings</vt:lpstr>
      <vt:lpstr>Office Theme</vt:lpstr>
      <vt:lpstr>Multimodal Emotion Recognition</vt:lpstr>
      <vt:lpstr>Outline</vt:lpstr>
      <vt:lpstr>Introduction</vt:lpstr>
      <vt:lpstr>Literature Review</vt:lpstr>
      <vt:lpstr>Problem Statement</vt:lpstr>
      <vt:lpstr>Objectives</vt:lpstr>
      <vt:lpstr>Proposed Methodology</vt:lpstr>
      <vt:lpstr>PowerPoint Presentation</vt:lpstr>
      <vt:lpstr>PowerPoint Presentation</vt:lpstr>
      <vt:lpstr>PowerPoint Presentation</vt:lpstr>
      <vt:lpstr>PowerPoint Presentation</vt:lpstr>
      <vt:lpstr>Result </vt:lpstr>
      <vt:lpstr>PowerPoint Presentation</vt:lpstr>
      <vt:lpstr>Audio Model Analysis</vt:lpstr>
      <vt:lpstr>Reasons why accuracy plateaus at 42.5%</vt:lpstr>
      <vt:lpstr>PowerPoint Presentation</vt:lpstr>
      <vt:lpstr>Fine-tuning and Optimisation</vt:lpstr>
      <vt:lpstr>Outcome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Sanya Goyal</cp:lastModifiedBy>
  <cp:revision>13</cp:revision>
  <dcterms:created xsi:type="dcterms:W3CDTF">2025-09-29T05:03:41Z</dcterms:created>
  <dcterms:modified xsi:type="dcterms:W3CDTF">2026-02-14T21:12:35Z</dcterms:modified>
</cp:coreProperties>
</file>